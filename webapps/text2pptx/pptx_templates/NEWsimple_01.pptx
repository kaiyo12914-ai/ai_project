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001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B69DF38-53E3-004C-68FA-5522D688BA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927382F-2F91-6D8C-AAF8-E2D21218E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EEAFFE-F568-34CF-78C7-B95F6D658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8B501F-DC2F-0D19-8E08-F435A0A6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EBD7ED-3EF6-3232-B40B-64DE6163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B184A2-E53A-B4D8-7D43-58B278A0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36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CE3D78B-14D5-6F98-0050-E8D42A667D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B35309F-CD5B-C2CA-E473-0C71D597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CEA9EE-86D2-F5FA-F6E6-15C42046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84148B-7F47-2E54-FDC8-4B0D788A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78BDF2-45E5-43D0-F440-460FE163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D03AD1-5766-4859-1AB7-372AD79A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3903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7A2C24F-4DDC-CC22-4CAB-FCC663FAAC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71D4447-9EA7-8BF0-F304-76A2AB86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7210"/>
            <a:ext cx="10515600" cy="1133475"/>
          </a:xfrm>
        </p:spPr>
        <p:txBody>
          <a:bodyPr anchor="b"/>
          <a:lstStyle>
            <a:lvl1pPr>
              <a:defRPr sz="60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851235-DE24-3464-C70B-F02D23F4F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85951"/>
            <a:ext cx="10515600" cy="42037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C9DB07-9B86-DAB0-8648-878C58A8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0DB493-E82A-206A-4EFB-08D10A06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DF74F1-44D0-71EB-6E2B-95A7A807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931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5DE7AD68-844A-67D9-ADD4-B9748710F3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6102DFD-DD7C-2937-10A2-5E50B23F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D04C27-3C01-D279-06F6-00DFF8E48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7EC002A-839C-958E-5A57-62E43406B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D8BCD4-8B1E-EC7E-5F75-FB5AEB61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EAAAD0-AD0F-53F8-2CE2-77701B91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7C0A05-1E84-EF09-772D-0090A929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33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473E55F4-48B1-D470-EACE-E241D14187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AABF788-E7E3-C369-CDCD-1DC82B88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4A11FF-1674-4D31-33D4-48C5451A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1EF733-4433-4309-B0B3-9C83AB64C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66CE328-30AE-2D13-F595-5346DC6A2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F5EC2-3A4C-1F78-43AF-2A7616602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37DD9C2-E352-9209-BEFC-6038DF55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C96638-823B-6425-0B4F-1C264A10B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CC0F15-506F-64BE-6322-AA521EE7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892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D40E368B-5802-9070-C8C7-BE7563062E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44F9DD7-8C81-07BC-9F4A-097CFFBE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9690B1-A5AF-9C78-BB62-6729EC9D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07A1C8-19EC-8DA9-9207-517D5AB0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D52E33-0B5A-C395-825D-7196E572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90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4262C7-1064-4D55-4B20-6A4E2A4C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F9EDE1F-4159-4E37-2362-7A929D88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878BA0-07F4-5C3C-D100-FCF1C872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37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E6FC3-D0B5-5097-5445-BB3272BD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0FAA0-DC5D-DECD-4273-429B48D1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A81EFB-6C3E-B729-2A7E-CF9AD32EF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3AA878-A542-A71A-1105-89ADB075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6443AD-F74B-D236-5CDB-40C6F0E2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90F568-413A-9C5A-F337-EA107BF3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17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1D62A-8C00-2545-13FE-164EA98B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01AC23-FAA1-17EE-4A9E-C1EDBBDA9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FAE442-DFD8-43CE-A064-17C8F60B6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AB9368-9BD2-50DA-6BE3-E7FBD1BA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46993A-D4AF-A364-2D13-05019B8D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4D7480-CE11-2A0C-4680-AF489840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88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9B755-3638-5B9F-97AD-C64556F5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095DF73-2623-1EC3-EEDC-369E5CB0E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41B559-73A2-62A0-0E1A-58D9EA88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718E87-C421-C8FD-C36A-7AE2F501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36479F-05B5-0F18-ADC6-FCA45799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90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987280C-98CA-4B9F-F871-BEBECF3BF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1D42DED-4D19-274B-2D63-45CBDE1E4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73E575-C480-A3A3-4DCB-1AFA766E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70D022-09F8-26AA-CD7C-EF3A7A8D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13907F-E1C9-19E8-5A73-29593FEC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88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5EBC39F-E8D1-6796-67CB-A30BFAE64F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23F5539-55BB-1547-D155-DD497D2C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B6391F-F053-B363-2164-0F04FB65F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5C6C92-5C47-831E-5C2A-DA2381019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CF3B13-6E28-3BC7-8069-4667B776C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7C5A50-1CBA-2B5B-4E6D-94AA0D505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165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簡報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latin typeface="Times New Roman"/>
              </a:rPr>
              <a:t>提案單位：資訊處｜提案日期：2026-03-21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提案背景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現行簽核流程跨系統，重工與等待時間高</a:t>
            </a:r>
          </a:p>
          <a:p>
            <a:r>
              <a:rPr sz="2000" b="0">
                <a:latin typeface="Times New Roman"/>
              </a:rPr>
              <a:t>文件版本分散，追蹤與稽核困難</a:t>
            </a:r>
          </a:p>
          <a:p>
            <a:r>
              <a:rPr sz="2000" b="0">
                <a:latin typeface="Times New Roman"/>
              </a:rPr>
              <a:t>人工彙整報表耗時，管理決策不即時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痛點與影響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流程長：平均處理天數偏高</a:t>
            </a:r>
          </a:p>
          <a:p>
            <a:r>
              <a:rPr sz="2000" b="0">
                <a:latin typeface="Times New Roman"/>
              </a:rPr>
              <a:t>品質不穩：欄位遺漏與格式不一致</a:t>
            </a:r>
          </a:p>
          <a:p>
            <a:r>
              <a:rPr sz="2000" b="0">
                <a:latin typeface="Times New Roman"/>
              </a:rPr>
              <a:t>透明度不足：主管難掌握案件卡關點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專案目標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流程時間縮短 30%</a:t>
            </a:r>
          </a:p>
          <a:p>
            <a:r>
              <a:rPr sz="2000" b="0">
                <a:latin typeface="Times New Roman"/>
              </a:rPr>
              <a:t>文件錯誤率降低 50%</a:t>
            </a:r>
          </a:p>
          <a:p>
            <a:r>
              <a:rPr sz="2000" b="0">
                <a:latin typeface="Times New Roman"/>
              </a:rPr>
              <a:t>建立即時儀表板，提升管理可視性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方案比較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1800" b="1">
                <a:latin typeface="Times New Roman"/>
              </a:rPr>
              <a:t>重點 A</a:t>
            </a:r>
          </a:p>
          <a:p>
            <a:r>
              <a:rPr sz="2000" b="0">
                <a:latin typeface="Times New Roman"/>
              </a:rPr>
              <a:t>方案 A：維持現況逐步修補</a:t>
            </a:r>
          </a:p>
          <a:p>
            <a:r>
              <a:rPr sz="2000" b="0">
                <a:latin typeface="Times New Roman"/>
              </a:rPr>
              <a:t>方案 C：全客製重建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800" b="1">
                <a:latin typeface="Times New Roman"/>
              </a:rPr>
              <a:t>重點 B</a:t>
            </a:r>
          </a:p>
          <a:p>
            <a:r>
              <a:rPr sz="2000" b="0">
                <a:latin typeface="Times New Roman"/>
              </a:rPr>
              <a:t>方案 B：導入文件流程平台（推薦）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建議方案（B）內容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建立統一收件與分派入口</a:t>
            </a:r>
          </a:p>
          <a:p>
            <a:r>
              <a:rPr sz="2000" b="0">
                <a:latin typeface="Times New Roman"/>
              </a:rPr>
              <a:t>導入範本化產文與欄位驗證</a:t>
            </a:r>
          </a:p>
          <a:p>
            <a:r>
              <a:rPr sz="2000" b="0">
                <a:latin typeface="Times New Roman"/>
              </a:rPr>
              <a:t>串接既有系統，保留核心資料來源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時程規劃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 b="0">
                <a:latin typeface="Times New Roman"/>
              </a:rPr>
              <a:t>M1：需求訪談與流程盤點</a:t>
            </a:r>
          </a:p>
          <a:p>
            <a:r>
              <a:rPr sz="2000" b="0">
                <a:latin typeface="Times New Roman"/>
              </a:rPr>
              <a:t>M2：系統設計與原型確認</a:t>
            </a:r>
          </a:p>
          <a:p>
            <a:r>
              <a:rPr sz="2000" b="0">
                <a:latin typeface="Times New Roman"/>
              </a:rPr>
              <a:t>M3-M4：功能開發與整合</a:t>
            </a:r>
          </a:p>
          <a:p>
            <a:r>
              <a:rPr sz="2000" b="0">
                <a:latin typeface="Times New Roman"/>
              </a:rPr>
              <a:t>M5：試點上線與教育訓練</a:t>
            </a:r>
          </a:p>
          <a:p>
            <a:r>
              <a:rPr sz="2000" b="0">
                <a:latin typeface="Times New Roman"/>
              </a:rPr>
              <a:t>M6：正式上線與成效追蹤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資源需求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1800" b="1">
                <a:latin typeface="Times New Roman"/>
              </a:rPr>
              <a:t>欄位 A</a:t>
            </a:r>
          </a:p>
          <a:p>
            <a:r>
              <a:rPr sz="2000" b="0">
                <a:latin typeface="Times New Roman"/>
              </a:rPr>
              <a:t>人力：PM 1、後端 2、前端 1、測試 1</a:t>
            </a:r>
          </a:p>
          <a:p>
            <a:r>
              <a:rPr sz="2000" b="0">
                <a:latin typeface="Times New Roman"/>
              </a:rPr>
              <a:t>配合單位：資訊處、業務單位、稽核單位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800" b="1">
                <a:latin typeface="Times New Roman"/>
              </a:rPr>
              <a:t>欄位 B</a:t>
            </a:r>
          </a:p>
          <a:p>
            <a:r>
              <a:rPr sz="2000" b="0">
                <a:latin typeface="Times New Roman"/>
              </a:rPr>
              <a:t>預算：軟體授權、開發與維運費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風險與對策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1800" b="1">
                <a:latin typeface="Times New Roman"/>
              </a:rPr>
              <a:t>重點 A</a:t>
            </a:r>
          </a:p>
          <a:p>
            <a:r>
              <a:rPr sz="2000" b="0">
                <a:latin typeface="Times New Roman"/>
              </a:rPr>
              <a:t>使用者抗拒：分梯教育訓練 + 超級使用者機制</a:t>
            </a:r>
          </a:p>
          <a:p>
            <a:r>
              <a:rPr sz="2000" b="0">
                <a:latin typeface="Times New Roman"/>
              </a:rPr>
              <a:t>整合風險：分階段串接與回滾方案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800" b="1">
                <a:latin typeface="Times New Roman"/>
              </a:rPr>
              <a:t>重點 B</a:t>
            </a:r>
          </a:p>
          <a:p>
            <a:r>
              <a:rPr sz="2000" b="0">
                <a:latin typeface="Times New Roman"/>
              </a:rPr>
              <a:t>資料品質落差：上線前資料清整與驗證規則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預期效益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縮短核決週期，提升行政效率</a:t>
            </a:r>
          </a:p>
          <a:p>
            <a:r>
              <a:rPr sz="2000" b="0">
                <a:latin typeface="Times New Roman"/>
              </a:rPr>
              <a:t>提升資料一致性與稽核可追溯性</a:t>
            </a:r>
          </a:p>
          <a:p>
            <a:r>
              <a:rPr sz="2000" b="0">
                <a:latin typeface="Times New Roman"/>
              </a:rPr>
              <a:t>提供管理儀表板支援決策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Times New Roman"/>
              </a:rPr>
              <a:t>決策請求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同意啟動專案與預算核定</a:t>
            </a:r>
          </a:p>
          <a:p>
            <a:r>
              <a:rPr sz="2000" b="0">
                <a:latin typeface="Times New Roman"/>
              </a:rPr>
              <a:t>同意先行試點一個處室，兩個月內檢核成效</a:t>
            </a:r>
          </a:p>
          <a:p>
            <a:r>
              <a:rPr sz="2000" b="0">
                <a:latin typeface="Times New Roman"/>
              </a:rPr>
              <a:t>同意成立跨部門專案小組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142</Words>
  <Application>Microsoft Office PowerPoint</Application>
  <PresentationFormat>寬螢幕</PresentationFormat>
  <Paragraphs>50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標楷體</vt:lpstr>
      <vt:lpstr>Aptos</vt:lpstr>
      <vt:lpstr>Arial</vt:lpstr>
      <vt:lpstr>Times New Roman</vt:lpstr>
      <vt:lpstr>Office 佈景主題</vt:lpstr>
      <vt:lpstr>簡報</vt:lpstr>
      <vt:lpstr>提案背景</vt:lpstr>
      <vt:lpstr>痛點與影響</vt:lpstr>
      <vt:lpstr>專案目標</vt:lpstr>
      <vt:lpstr>方案比較</vt:lpstr>
      <vt:lpstr>建議方案（B）內容</vt:lpstr>
      <vt:lpstr>時程規劃</vt:lpstr>
      <vt:lpstr>資源需求</vt:lpstr>
      <vt:lpstr>風險與對策</vt:lpstr>
      <vt:lpstr>預期效益</vt:lpstr>
      <vt:lpstr>決策請求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109598006@cc.ntut.edu.tw</dc:creator>
  <cp:lastModifiedBy>109598006@cc.ntut.edu.tw</cp:lastModifiedBy>
  <cp:revision>2</cp:revision>
  <dcterms:created xsi:type="dcterms:W3CDTF">2026-03-21T01:41:10Z</dcterms:created>
  <dcterms:modified xsi:type="dcterms:W3CDTF">2026-03-21T01:49:29Z</dcterms:modified>
</cp:coreProperties>
</file>