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Helvetica World Bold" charset="1" panose="020B0800040000020004"/>
      <p:regular r:id="rId7"/>
    </p:embeddedFont>
    <p:embeddedFont>
      <p:font typeface="Helvetica World" charset="1" panose="020B05000400000200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svg" Type="http://schemas.openxmlformats.org/officeDocument/2006/relationships/image"/><Relationship Id="rId6" Target="../media/image5.svg" Type="http://schemas.openxmlformats.org/officeDocument/2006/relationships/image"/><Relationship Id="rId7" Target="../media/image6.sv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225357">
            <a:off x="6893562" y="3664543"/>
            <a:ext cx="4341332" cy="5051732"/>
            <a:chOff x="0" y="0"/>
            <a:chExt cx="6985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ln w="95250" cap="sq">
              <a:solidFill>
                <a:srgbClr val="8E93A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641641">
            <a:off x="6893562" y="3664543"/>
            <a:ext cx="4341332" cy="5051732"/>
            <a:chOff x="0" y="0"/>
            <a:chExt cx="6985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ln w="95250" cap="sq">
              <a:solidFill>
                <a:srgbClr val="8E93A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994150" y="3345902"/>
            <a:ext cx="1952625" cy="1952625"/>
          </a:xfrm>
          <a:custGeom>
            <a:avLst/>
            <a:gdLst/>
            <a:ahLst/>
            <a:cxnLst/>
            <a:rect r="r" b="b" t="t" l="l"/>
            <a:pathLst>
              <a:path h="1952625" w="1952625">
                <a:moveTo>
                  <a:pt x="0" y="0"/>
                </a:moveTo>
                <a:lnTo>
                  <a:pt x="1952625" y="0"/>
                </a:lnTo>
                <a:lnTo>
                  <a:pt x="1952625" y="1952625"/>
                </a:lnTo>
                <a:lnTo>
                  <a:pt x="0" y="1952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6994150" y="3345902"/>
            <a:ext cx="1623925" cy="162392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568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904538" y="5378446"/>
            <a:ext cx="1952625" cy="1952625"/>
          </a:xfrm>
          <a:custGeom>
            <a:avLst/>
            <a:gdLst/>
            <a:ahLst/>
            <a:cxnLst/>
            <a:rect r="r" b="b" t="t" l="l"/>
            <a:pathLst>
              <a:path h="1952625" w="1952625">
                <a:moveTo>
                  <a:pt x="0" y="0"/>
                </a:moveTo>
                <a:lnTo>
                  <a:pt x="1952625" y="0"/>
                </a:lnTo>
                <a:lnTo>
                  <a:pt x="1952625" y="1952625"/>
                </a:lnTo>
                <a:lnTo>
                  <a:pt x="0" y="1952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5904538" y="5378446"/>
            <a:ext cx="1623925" cy="162392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80A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599992" y="5378446"/>
            <a:ext cx="1952625" cy="1952625"/>
          </a:xfrm>
          <a:custGeom>
            <a:avLst/>
            <a:gdLst/>
            <a:ahLst/>
            <a:cxnLst/>
            <a:rect r="r" b="b" t="t" l="l"/>
            <a:pathLst>
              <a:path h="1952625" w="1952625">
                <a:moveTo>
                  <a:pt x="0" y="0"/>
                </a:moveTo>
                <a:lnTo>
                  <a:pt x="1952625" y="0"/>
                </a:lnTo>
                <a:lnTo>
                  <a:pt x="1952625" y="1952625"/>
                </a:lnTo>
                <a:lnTo>
                  <a:pt x="0" y="1952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8" id="18"/>
          <p:cNvGrpSpPr/>
          <p:nvPr/>
        </p:nvGrpSpPr>
        <p:grpSpPr>
          <a:xfrm rot="0">
            <a:off x="10599992" y="5378446"/>
            <a:ext cx="1623925" cy="162392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47A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994150" y="7410990"/>
            <a:ext cx="1952625" cy="1952625"/>
          </a:xfrm>
          <a:custGeom>
            <a:avLst/>
            <a:gdLst/>
            <a:ahLst/>
            <a:cxnLst/>
            <a:rect r="r" b="b" t="t" l="l"/>
            <a:pathLst>
              <a:path h="1952625" w="1952625">
                <a:moveTo>
                  <a:pt x="0" y="0"/>
                </a:moveTo>
                <a:lnTo>
                  <a:pt x="1952625" y="0"/>
                </a:lnTo>
                <a:lnTo>
                  <a:pt x="1952625" y="1952625"/>
                </a:lnTo>
                <a:lnTo>
                  <a:pt x="0" y="1952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6994150" y="7410990"/>
            <a:ext cx="1623925" cy="162392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B49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9447507" y="3345902"/>
            <a:ext cx="1952625" cy="1952625"/>
          </a:xfrm>
          <a:custGeom>
            <a:avLst/>
            <a:gdLst/>
            <a:ahLst/>
            <a:cxnLst/>
            <a:rect r="r" b="b" t="t" l="l"/>
            <a:pathLst>
              <a:path h="1952625" w="1952625">
                <a:moveTo>
                  <a:pt x="0" y="0"/>
                </a:moveTo>
                <a:lnTo>
                  <a:pt x="1952625" y="0"/>
                </a:lnTo>
                <a:lnTo>
                  <a:pt x="1952625" y="1952625"/>
                </a:lnTo>
                <a:lnTo>
                  <a:pt x="0" y="1952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6" id="26"/>
          <p:cNvGrpSpPr/>
          <p:nvPr/>
        </p:nvGrpSpPr>
        <p:grpSpPr>
          <a:xfrm rot="0">
            <a:off x="9447507" y="3345902"/>
            <a:ext cx="1623925" cy="162392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E38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9447507" y="7410990"/>
            <a:ext cx="1952625" cy="1952625"/>
          </a:xfrm>
          <a:custGeom>
            <a:avLst/>
            <a:gdLst/>
            <a:ahLst/>
            <a:cxnLst/>
            <a:rect r="r" b="b" t="t" l="l"/>
            <a:pathLst>
              <a:path h="1952625" w="1952625">
                <a:moveTo>
                  <a:pt x="0" y="0"/>
                </a:moveTo>
                <a:lnTo>
                  <a:pt x="1952625" y="0"/>
                </a:lnTo>
                <a:lnTo>
                  <a:pt x="1952625" y="1952625"/>
                </a:lnTo>
                <a:lnTo>
                  <a:pt x="0" y="1952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0" id="30"/>
          <p:cNvGrpSpPr/>
          <p:nvPr/>
        </p:nvGrpSpPr>
        <p:grpSpPr>
          <a:xfrm rot="0">
            <a:off x="9447507" y="7410990"/>
            <a:ext cx="1623925" cy="162392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58B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072266" y="3495444"/>
            <a:ext cx="231740" cy="231740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C568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072266" y="5547809"/>
            <a:ext cx="231740" cy="231740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C80A6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072266" y="7554115"/>
            <a:ext cx="231740" cy="231740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58B49B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929387" y="3398281"/>
            <a:ext cx="231740" cy="231740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B8E38E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929387" y="5476989"/>
            <a:ext cx="231740" cy="231740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C47A6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929387" y="7521850"/>
            <a:ext cx="231740" cy="231740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8E58B4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7329862" y="3657865"/>
            <a:ext cx="952500" cy="952500"/>
          </a:xfrm>
          <a:custGeom>
            <a:avLst/>
            <a:gdLst/>
            <a:ahLst/>
            <a:cxnLst/>
            <a:rect r="r" b="b" t="t" l="l"/>
            <a:pathLst>
              <a:path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6256324" y="5714159"/>
            <a:ext cx="920353" cy="952500"/>
          </a:xfrm>
          <a:custGeom>
            <a:avLst/>
            <a:gdLst/>
            <a:ahLst/>
            <a:cxnLst/>
            <a:rect r="r" b="b" t="t" l="l"/>
            <a:pathLst>
              <a:path h="952500" w="920353">
                <a:moveTo>
                  <a:pt x="0" y="0"/>
                </a:moveTo>
                <a:lnTo>
                  <a:pt x="920353" y="0"/>
                </a:lnTo>
                <a:lnTo>
                  <a:pt x="920353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7366539" y="7753590"/>
            <a:ext cx="952500" cy="952500"/>
          </a:xfrm>
          <a:custGeom>
            <a:avLst/>
            <a:gdLst/>
            <a:ahLst/>
            <a:cxnLst/>
            <a:rect r="r" b="b" t="t" l="l"/>
            <a:pathLst>
              <a:path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4" id="54"/>
          <p:cNvSpPr/>
          <p:nvPr/>
        </p:nvSpPr>
        <p:spPr>
          <a:xfrm flipH="false" flipV="false" rot="0">
            <a:off x="9783219" y="3703913"/>
            <a:ext cx="952500" cy="952500"/>
          </a:xfrm>
          <a:custGeom>
            <a:avLst/>
            <a:gdLst/>
            <a:ahLst/>
            <a:cxnLst/>
            <a:rect r="r" b="b" t="t" l="l"/>
            <a:pathLst>
              <a:path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5" id="55"/>
          <p:cNvSpPr/>
          <p:nvPr/>
        </p:nvSpPr>
        <p:spPr>
          <a:xfrm flipH="false" flipV="false" rot="0">
            <a:off x="10991069" y="5728114"/>
            <a:ext cx="841772" cy="952500"/>
          </a:xfrm>
          <a:custGeom>
            <a:avLst/>
            <a:gdLst/>
            <a:ahLst/>
            <a:cxnLst/>
            <a:rect r="r" b="b" t="t" l="l"/>
            <a:pathLst>
              <a:path h="952500" w="841772">
                <a:moveTo>
                  <a:pt x="0" y="0"/>
                </a:moveTo>
                <a:lnTo>
                  <a:pt x="841772" y="0"/>
                </a:lnTo>
                <a:lnTo>
                  <a:pt x="841772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6" id="56"/>
          <p:cNvSpPr/>
          <p:nvPr/>
        </p:nvSpPr>
        <p:spPr>
          <a:xfrm flipH="false" flipV="false" rot="0">
            <a:off x="9792744" y="7776330"/>
            <a:ext cx="952500" cy="952500"/>
          </a:xfrm>
          <a:custGeom>
            <a:avLst/>
            <a:gdLst/>
            <a:ahLst/>
            <a:cxnLst/>
            <a:rect r="r" b="b" t="t" l="l"/>
            <a:pathLst>
              <a:path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7" id="57"/>
          <p:cNvSpPr/>
          <p:nvPr/>
        </p:nvSpPr>
        <p:spPr>
          <a:xfrm flipH="false" flipV="false" rot="-7045832">
            <a:off x="-1534444" y="-1430887"/>
            <a:ext cx="2464703" cy="2861775"/>
          </a:xfrm>
          <a:custGeom>
            <a:avLst/>
            <a:gdLst/>
            <a:ahLst/>
            <a:cxnLst/>
            <a:rect r="r" b="b" t="t" l="l"/>
            <a:pathLst>
              <a:path h="2861775" w="2464703">
                <a:moveTo>
                  <a:pt x="0" y="0"/>
                </a:moveTo>
                <a:lnTo>
                  <a:pt x="2464704" y="0"/>
                </a:lnTo>
                <a:lnTo>
                  <a:pt x="2464704" y="2861774"/>
                </a:lnTo>
                <a:lnTo>
                  <a:pt x="0" y="286177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6865203" y="8014971"/>
            <a:ext cx="5836596" cy="4114800"/>
          </a:xfrm>
          <a:custGeom>
            <a:avLst/>
            <a:gdLst/>
            <a:ahLst/>
            <a:cxnLst/>
            <a:rect r="r" b="b" t="t" l="l"/>
            <a:pathLst>
              <a:path h="4114800" w="5836596">
                <a:moveTo>
                  <a:pt x="0" y="0"/>
                </a:moveTo>
                <a:lnTo>
                  <a:pt x="5836596" y="0"/>
                </a:lnTo>
                <a:lnTo>
                  <a:pt x="58365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2286800" y="942975"/>
            <a:ext cx="13714401" cy="76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b="true" sz="41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PREDICTIVE PROCESS AUTOMATION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286800" y="1861054"/>
            <a:ext cx="1371440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Making</a:t>
            </a:r>
            <a:r>
              <a:rPr lang="en-US" sz="27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workflows adapt to real-time conditions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22797" y="3359519"/>
            <a:ext cx="3458969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Map Key</a:t>
            </a: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Business Processes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22797" y="4202695"/>
            <a:ext cx="3458969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0"/>
              </a:lnSpc>
            </a:pPr>
            <a:r>
              <a:rPr lang="en-US" sz="1800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Visualize st</a:t>
            </a:r>
            <a:r>
              <a:rPr lang="en-US" sz="1800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eps where decisions or approvals are required.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22797" y="5402359"/>
            <a:ext cx="3458969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Detect</a:t>
            </a: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Trigger Conditions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22797" y="6250084"/>
            <a:ext cx="3458969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0"/>
              </a:lnSpc>
            </a:pPr>
            <a:r>
              <a:rPr lang="en-US" sz="1800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Identify </a:t>
            </a:r>
            <a:r>
              <a:rPr lang="en-US" sz="1800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events that signal process initiation.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422797" y="7399595"/>
            <a:ext cx="3458969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Predict Next Step Read</a:t>
            </a: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iness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22797" y="8247320"/>
            <a:ext cx="3458969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0"/>
              </a:lnSpc>
            </a:pPr>
            <a:r>
              <a:rPr lang="en-US" sz="1800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 past data to for</a:t>
            </a:r>
            <a:r>
              <a:rPr lang="en-US" sz="1800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ecast when a task can proceed.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368323" y="3298148"/>
            <a:ext cx="3496879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Automate</a:t>
            </a: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Approval Logic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368323" y="4264067"/>
            <a:ext cx="3496879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 risk </a:t>
            </a:r>
            <a:r>
              <a:rPr lang="en-US" sz="1800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score or data thresholds for routing.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368323" y="5402359"/>
            <a:ext cx="3496879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Track</a:t>
            </a: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Bottleneck Probabilities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368323" y="6250084"/>
            <a:ext cx="3496879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Highlight</a:t>
            </a:r>
            <a:r>
              <a:rPr lang="en-US" sz="1800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where processes are likely to stall.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3368323" y="7399595"/>
            <a:ext cx="3496879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Optimize</a:t>
            </a:r>
            <a:r>
              <a:rPr lang="en-US" sz="24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Flow in Real-Time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368323" y="8247320"/>
            <a:ext cx="3496879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Adjust</a:t>
            </a:r>
            <a:r>
              <a:rPr lang="en-US" sz="1800">
                <a:solidFill>
                  <a:srgbClr val="000000">
                    <a:alpha val="74902"/>
                  </a:srgb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sequences dynamically based on system input.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DAHE72FMHAE</dc:identifier>
  <dcterms:modified xsi:type="dcterms:W3CDTF">2011-08-01T06:04:30Z</dcterms:modified>
  <cp:revision>1</cp:revision>
</cp:coreProperties>
</file>